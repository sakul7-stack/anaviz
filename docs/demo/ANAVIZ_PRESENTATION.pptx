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65C"/>
          </a:solidFill>
          <a:ln w="12700">
            <a:solidFill>
              <a:srgbClr val="14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58368"/>
            <a:ext cx="146304" cy="5440680"/>
          </a:xfrm>
          <a:prstGeom prst="rect">
            <a:avLst/>
          </a:prstGeom>
          <a:solidFill>
            <a:srgbClr val="D96B00"/>
          </a:solidFill>
          <a:ln w="12700">
            <a:solidFill>
              <a:srgbClr val="D9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051560"/>
            <a:ext cx="987552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"/>
              </a:rPr>
              <a:t>ANAVIZ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938528"/>
            <a:ext cx="9784080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500" b="1">
                <a:solidFill>
                  <a:srgbClr val="CDE1F7"/>
                </a:solidFill>
                <a:latin typeface="Aptos"/>
              </a:rPr>
              <a:t>Dataset-independent time-series 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651760"/>
            <a:ext cx="960120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700" b="0">
                <a:solidFill>
                  <a:srgbClr val="DEE8F2"/>
                </a:solidFill>
                <a:latin typeface="Aptos"/>
              </a:rPr>
              <a:t>How the code connects APIs, caches data, preserves gaps, and renders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3840480"/>
            <a:ext cx="4709160" cy="1051560"/>
          </a:xfrm>
          <a:prstGeom prst="roundRect">
            <a:avLst/>
          </a:prstGeom>
          <a:solidFill>
            <a:srgbClr val="224D77"/>
          </a:solidFill>
          <a:ln w="12700">
            <a:solidFill>
              <a:srgbClr val="487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1872" y="4096512"/>
            <a:ext cx="429768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Example source: CERN ATLAS HLT p-beat
Project: generic HTTP time-series explorer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6126480"/>
            <a:ext cx="987552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0">
                <a:solidFill>
                  <a:srgbClr val="BED3E9"/>
                </a:solidFill>
                <a:latin typeface="Aptos"/>
              </a:rPr>
              <a:t>Presentation-ready deck  |  code + diagrams + speaking cues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365C"/>
                </a:solidFill>
                <a:latin typeface="Aptos"/>
              </a:rPr>
              <a:t>The big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86574"/>
                </a:solidFill>
                <a:latin typeface="Aptos"/>
              </a:rPr>
              <a:t>Anaviz is an adapter and evidence layer, not an HLT-only chart.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8404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1F6F8B"/>
                </a:solidFill>
                <a:latin typeface="Aptos"/>
              </a:rPr>
              <a:t>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246120" cy="3383280"/>
          </a:xfrm>
          <a:prstGeom prst="roundRect">
            <a:avLst/>
          </a:prstGeom>
          <a:solidFill>
            <a:srgbClr val="FCE7E8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2697480" cy="685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2400" b="1">
                <a:solidFill>
                  <a:srgbClr val="C62828"/>
                </a:solidFill>
                <a:latin typeface="Aptos"/>
              </a:rPr>
              <a:t>ANY HTTP
TIME-SERIES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269748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500" b="0">
                <a:solidFill>
                  <a:srgbClr val="19202A"/>
                </a:solidFill>
                <a:latin typeface="Aptos"/>
              </a:rPr>
              <a:t>timestamps + values
possibly different field names
possibly different JSON shape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246120" cy="3383280"/>
          </a:xfrm>
          <a:prstGeom prst="roundRect">
            <a:avLst/>
          </a:prstGeom>
          <a:solidFill>
            <a:srgbClr val="FFEFDC"/>
          </a:solidFill>
          <a:ln w="12700">
            <a:solidFill>
              <a:srgbClr val="D9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874519"/>
            <a:ext cx="2606040" cy="685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2400" b="1">
                <a:solidFill>
                  <a:srgbClr val="D96B00"/>
                </a:solidFill>
                <a:latin typeface="Aptos"/>
              </a:rPr>
              <a:t>config.json
+ adapter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834640"/>
            <a:ext cx="260604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500" b="0">
                <a:solidFill>
                  <a:srgbClr val="19202A"/>
                </a:solidFill>
                <a:latin typeface="Aptos"/>
              </a:rPr>
              <a:t>maps source fields
fetches uncovered ranges
translates to canonical models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1417320"/>
            <a:ext cx="3246120" cy="3383280"/>
          </a:xfrm>
          <a:prstGeom prst="roundRect">
            <a:avLst/>
          </a:prstGeom>
          <a:solidFill>
            <a:srgbClr val="E1F4EB"/>
          </a:solidFill>
          <a:ln w="1270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1828800"/>
            <a:ext cx="2697480" cy="10515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2400" b="1">
                <a:solidFill>
                  <a:srgbClr val="198754"/>
                </a:solidFill>
                <a:latin typeface="Aptos"/>
              </a:rPr>
              <a:t>CHART
+ HEATMAP
+ HISTOGRAM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154680"/>
            <a:ext cx="2697480" cy="685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500" b="0">
                <a:solidFill>
                  <a:srgbClr val="19202A"/>
                </a:solidFill>
                <a:latin typeface="Aptos"/>
              </a:rPr>
              <a:t>fast display
visible gaps
quality + fidelity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560320"/>
            <a:ext cx="502920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3800" b="1">
                <a:solidFill>
                  <a:srgbClr val="1F6F8B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2560320"/>
            <a:ext cx="502920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3800" b="1">
                <a:solidFill>
                  <a:srgbClr val="1F6F8B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989320"/>
            <a:ext cx="11201400" cy="384048"/>
          </a:xfrm>
          <a:prstGeom prst="roundRect">
            <a:avLst/>
          </a:prstGeom>
          <a:solidFill>
            <a:srgbClr val="FFEFDC"/>
          </a:solidFill>
          <a:ln w="12700">
            <a:solidFill>
              <a:srgbClr val="D9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6053328"/>
            <a:ext cx="1088136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8A4B08"/>
                </a:solidFill>
                <a:latin typeface="Aptos"/>
              </a:rPr>
              <a:t>SPEAKER CUE  |  The HLT dataset demonstrates the architecture; the frontend is designed for any timestamp-and-value HTTP API.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547104"/>
            <a:ext cx="11201400" cy="10972"/>
          </a:xfrm>
          <a:prstGeom prst="rect">
            <a:avLst/>
          </a:prstGeom>
          <a:solidFill>
            <a:srgbClr val="DEE4EB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601968"/>
            <a:ext cx="7772400" cy="164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86574"/>
                </a:solidFill>
                <a:latin typeface="Aptos"/>
              </a:rPr>
              <a:t>ANAVIZ  |  Dataset-independent time-series visualization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601968"/>
            <a:ext cx="502920" cy="164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800" b="0">
                <a:solidFill>
                  <a:srgbClr val="586574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365C"/>
                </a:solidFill>
                <a:latin typeface="Aptos"/>
              </a:rPr>
              <a:t>The example dataset: ATLAS HLT p-beat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86574"/>
                </a:solidFill>
                <a:latin typeface="Aptos"/>
              </a:rPr>
              <a:t>Real monitoring data from CERN's ATLAS trigger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8404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1F6F8B"/>
                </a:solidFill>
                <a:latin typeface="Aptos"/>
              </a:rP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5074920" cy="19202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14365C"/>
                </a:solidFill>
                <a:latin typeface="Aptos"/>
              </a:rPr>
              <a:t>HLT = High Level Trigger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00" b="0">
                <a:solidFill>
                  <a:srgbClr val="19202A"/>
                </a:solidFill>
                <a:latin typeface="Aptos"/>
              </a:rPr>
              <a:t>The system makes fast event-selection decisions at the LHC.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14365C"/>
                </a:solidFill>
                <a:latin typeface="Aptos"/>
              </a:rPr>
              <a:t>p-beat = periodic heartbeat/rate monitoring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00" b="0">
                <a:solidFill>
                  <a:srgbClr val="19202A"/>
                </a:solidFill>
                <a:latin typeface="Aptos"/>
              </a:rPr>
              <a:t>Each channel represents a DCM computing node and its measured rate.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383280"/>
            <a:ext cx="5074920" cy="1417320"/>
          </a:xfrm>
          <a:prstGeom prst="roundRect">
            <a:avLst/>
          </a:prstGeom>
          <a:solidFill>
            <a:srgbClr val="E1EFFC"/>
          </a:solidFill>
          <a:ln w="1270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584448"/>
            <a:ext cx="470916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>
                <a:solidFill>
                  <a:srgbClr val="1F6F8B"/>
                </a:solidFill>
                <a:latin typeface="Aptos"/>
              </a:rPr>
              <a:t>Data facts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>
                <a:solidFill>
                  <a:srgbClr val="19202A"/>
                </a:solidFill>
                <a:latin typeface="Aptos"/>
              </a:rPr>
              <a:t>~3,690 channels  |  large CSV files  |  long time range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>
                <a:solidFill>
                  <a:srgbClr val="C62828"/>
                </a:solidFill>
                <a:latin typeface="Aptos"/>
              </a:rPr>
              <a:t>NaN means no valid sample — not zero.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25880"/>
            <a:ext cx="5257800" cy="1828800"/>
          </a:xfrm>
          <a:prstGeom prst="roundRect">
            <a:avLst/>
          </a:prstGeom>
          <a:solidFill>
            <a:srgbClr val="1B2636"/>
          </a:solidFill>
          <a:ln w="12700">
            <a:solidFill>
              <a:srgbClr val="1B2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1417320"/>
            <a:ext cx="49377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900" b="1">
                <a:solidFill>
                  <a:srgbClr val="96CAFF"/>
                </a:solidFill>
                <a:latin typeface="Aptos"/>
              </a:rPr>
              <a:t>datasource/ingest_hlt.py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1709928"/>
            <a:ext cx="4937760" cy="1353312"/>
          </a:xfrm>
          <a:prstGeom prst="rect">
            <a:avLst/>
          </a:prstGeom>
          <a:noFill/>
        </p:spPr>
        <p:txBody>
          <a:bodyPr wrap="none" lIns="18288" rIns="18288" tIns="18288">
            <a:spAutoFit/>
          </a:bodyPr>
          <a:lstStyle/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ELEMENT_ID_OFFSET = 900_000</a:t>
            </a:r>
          </a:p>
          <a:p>
            <a:pPr>
              <a:lnSpc>
                <a:spcPct val="88000"/>
              </a:lnSpc>
              <a:spcAft>
                <a:spcPts val="0"/>
              </a:spcAft>
            </a:pPr>
          </a:p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# column 0 -&gt; 900000</a:t>
            </a:r>
          </a:p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# column 1 -&gt; 900001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227832"/>
            <a:ext cx="525780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98754"/>
                </a:solidFill>
                <a:latin typeface="Aptos"/>
              </a:rPr>
              <a:t>Plain English: The importer gives each source column a stable entity ID.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657600"/>
            <a:ext cx="5257800" cy="1417320"/>
          </a:xfrm>
          <a:prstGeom prst="roundRect">
            <a:avLst/>
          </a:prstGeom>
          <a:solidFill>
            <a:srgbClr val="1B2636"/>
          </a:solidFill>
          <a:ln w="12700">
            <a:solidFill>
              <a:srgbClr val="1B2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3749039"/>
            <a:ext cx="49377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900" b="1">
                <a:solidFill>
                  <a:srgbClr val="96CAFF"/>
                </a:solidFill>
                <a:latin typeface="Aptos"/>
              </a:rPr>
              <a:t>datasource/ingest_hlt.py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4041648"/>
            <a:ext cx="4937760" cy="941832"/>
          </a:xfrm>
          <a:prstGeom prst="rect">
            <a:avLst/>
          </a:prstGeom>
          <a:noFill/>
        </p:spPr>
        <p:txBody>
          <a:bodyPr wrap="none" lIns="18288" rIns="18288" tIns="18288">
            <a:spAutoFit/>
          </a:bodyPr>
          <a:lstStyle/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chunksize = 5000</a:t>
            </a:r>
          </a:p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reader = pd.read_csv(path, chunksize=chunksize)</a:t>
            </a:r>
          </a:p>
          <a:p>
            <a:pPr>
              <a:lnSpc>
                <a:spcPct val="88000"/>
              </a:lnSpc>
              <a:spcAft>
                <a:spcPts val="0"/>
              </a:spcAft>
            </a:pPr>
          </a:p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# process a small part of the large CSV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5148072"/>
            <a:ext cx="525780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98754"/>
                </a:solidFill>
                <a:latin typeface="Aptos"/>
              </a:rPr>
              <a:t>Plain English: Chunking prevents a multi-gigabyte file from filling memory.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989320"/>
            <a:ext cx="11201400" cy="384048"/>
          </a:xfrm>
          <a:prstGeom prst="roundRect">
            <a:avLst/>
          </a:prstGeom>
          <a:solidFill>
            <a:srgbClr val="FFEFDC"/>
          </a:solidFill>
          <a:ln w="12700">
            <a:solidFill>
              <a:srgbClr val="D9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6053328"/>
            <a:ext cx="1088136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8A4B08"/>
                </a:solidFill>
                <a:latin typeface="Aptos"/>
              </a:rPr>
              <a:t>SPEAKER CUE  |  Introduce the data, then immediately connect it to the design problem: large volume plus missing samples.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547104"/>
            <a:ext cx="11201400" cy="10972"/>
          </a:xfrm>
          <a:prstGeom prst="rect">
            <a:avLst/>
          </a:prstGeom>
          <a:solidFill>
            <a:srgbClr val="DEE4EB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601968"/>
            <a:ext cx="7772400" cy="164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86574"/>
                </a:solidFill>
                <a:latin typeface="Aptos"/>
              </a:rPr>
              <a:t>ANAVIZ  |  Dataset-independent time-series visualization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601968"/>
            <a:ext cx="502920" cy="164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800" b="0">
                <a:solidFill>
                  <a:srgbClr val="586574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365C"/>
                </a:solidFill>
                <a:latin typeface="Aptos"/>
              </a:rPr>
              <a:t>Architecture: two independent containers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86574"/>
                </a:solidFill>
                <a:latin typeface="Aptos"/>
              </a:rPr>
              <a:t>Separate ownership protects the real dataset.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8404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1F6F8B"/>
                </a:solidFill>
                <a:latin typeface="Aptos"/>
              </a:rPr>
              <a:t>ARCHITECTURE</a:t>
            </a:r>
          </a:p>
        </p:txBody>
      </p:sp>
      <p:pic>
        <p:nvPicPr>
          <p:cNvPr id="6" name="Picture 5" descr="06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260" y="1143000"/>
            <a:ext cx="7150719" cy="4526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989320"/>
            <a:ext cx="11201400" cy="384048"/>
          </a:xfrm>
          <a:prstGeom prst="roundRect">
            <a:avLst/>
          </a:prstGeom>
          <a:solidFill>
            <a:srgbClr val="FFEFDC"/>
          </a:solidFill>
          <a:ln w="12700">
            <a:solidFill>
              <a:srgbClr val="D9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053328"/>
            <a:ext cx="1088136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8A4B08"/>
                </a:solidFill>
                <a:latin typeface="Aptos"/>
              </a:rPr>
              <a:t>SPEAKER CUE  |  Datasource owns the source of truth. Project owns generic visualization and cache. They communicate over HTTP, not shared database tables.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47104"/>
            <a:ext cx="11201400" cy="10972"/>
          </a:xfrm>
          <a:prstGeom prst="rect">
            <a:avLst/>
          </a:prstGeom>
          <a:solidFill>
            <a:srgbClr val="DEE4EB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601968"/>
            <a:ext cx="7772400" cy="164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86574"/>
                </a:solidFill>
                <a:latin typeface="Aptos"/>
              </a:rPr>
              <a:t>ANAVIZ  |  Dataset-independent time-series visualization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502920" cy="164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800" b="0">
                <a:solidFill>
                  <a:srgbClr val="586574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365C"/>
                </a:solidFill>
                <a:latin typeface="Aptos"/>
              </a:rPr>
              <a:t>The bridge: source API → config → canonical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86574"/>
                </a:solidFill>
                <a:latin typeface="Aptos"/>
              </a:rPr>
              <a:t>The frontend does not learn every source's database vocabulary.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8404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1F6F8B"/>
                </a:solidFill>
                <a:latin typeface="Aptos"/>
              </a:rPr>
              <a:t>ARCHITECTURE</a:t>
            </a:r>
          </a:p>
        </p:txBody>
      </p:sp>
      <p:pic>
        <p:nvPicPr>
          <p:cNvPr id="6" name="Picture 5" descr="09_api_contract_trans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785" y="1143000"/>
            <a:ext cx="9021668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989320"/>
            <a:ext cx="11201400" cy="384048"/>
          </a:xfrm>
          <a:prstGeom prst="roundRect">
            <a:avLst/>
          </a:prstGeom>
          <a:solidFill>
            <a:srgbClr val="FFEFDC"/>
          </a:solidFill>
          <a:ln w="12700">
            <a:solidFill>
              <a:srgbClr val="D9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053328"/>
            <a:ext cx="1088136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8A4B08"/>
                </a:solidFill>
                <a:latin typeface="Aptos"/>
              </a:rPr>
              <a:t>SPEAKER CUE  |  The adapter translates source-specific names like element_id and quality_flag into generic entities, points, gaps, fidelity, and metrics.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47104"/>
            <a:ext cx="11201400" cy="10972"/>
          </a:xfrm>
          <a:prstGeom prst="rect">
            <a:avLst/>
          </a:prstGeom>
          <a:solidFill>
            <a:srgbClr val="DEE4EB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601968"/>
            <a:ext cx="7772400" cy="164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86574"/>
                </a:solidFill>
                <a:latin typeface="Aptos"/>
              </a:rPr>
              <a:t>ANAVIZ  |  Dataset-independent time-series visualization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502920" cy="164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800" b="0">
                <a:solidFill>
                  <a:srgbClr val="586574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365C"/>
                </a:solidFill>
                <a:latin typeface="Aptos"/>
              </a:rPr>
              <a:t>config.json: declarative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86574"/>
                </a:solidFill>
                <a:latin typeface="Aptos"/>
              </a:rPr>
              <a:t>The user describes the API instead of writing a new renderer.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8404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1F6F8B"/>
                </a:solidFill>
                <a:latin typeface="Aptos"/>
              </a:rPr>
              <a:t>CONFIGURATION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577840" cy="3566160"/>
          </a:xfrm>
          <a:prstGeom prst="roundRect">
            <a:avLst/>
          </a:prstGeom>
          <a:solidFill>
            <a:srgbClr val="1B2636"/>
          </a:solidFill>
          <a:ln w="12700">
            <a:solidFill>
              <a:srgbClr val="1B2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325880"/>
            <a:ext cx="525780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900" b="1">
                <a:solidFill>
                  <a:srgbClr val="96CAFF"/>
                </a:solidFill>
                <a:latin typeface="Aptos"/>
              </a:rPr>
              <a:t>user config.json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618488"/>
            <a:ext cx="5257800" cy="3090672"/>
          </a:xfrm>
          <a:prstGeom prst="rect">
            <a:avLst/>
          </a:prstGeom>
          <a:noFill/>
        </p:spPr>
        <p:txBody>
          <a:bodyPr wrap="none" lIns="18288" rIns="18288" tIns="18288">
            <a:spAutoFit/>
          </a:bodyPr>
          <a:lstStyle/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"source": {"base_url": "http://datasource:9000"}</a:t>
            </a:r>
          </a:p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"series": {</a:t>
            </a:r>
          </a:p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  "path": "/archive/eventhistory",</a:t>
            </a:r>
          </a:p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  "shape": "columnar",</a:t>
            </a:r>
          </a:p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  "parameters": {</a:t>
            </a:r>
          </a:p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    "entity": "element_id", "start": "t0", "end": "t1"</a:t>
            </a:r>
          </a:p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  }</a:t>
            </a:r>
          </a:p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73752"/>
            <a:ext cx="557784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98754"/>
                </a:solidFill>
                <a:latin typeface="Aptos"/>
              </a:rPr>
              <a:t>Plain English: This maps Anaviz names to the source API's paths and parameters.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325880"/>
            <a:ext cx="4572000" cy="2560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1">
                <a:solidFill>
                  <a:srgbClr val="1F6F8B"/>
                </a:solidFill>
                <a:latin typeface="Aptos"/>
              </a:rPr>
              <a:t>Important fields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0">
                <a:solidFill>
                  <a:srgbClr val="19202A"/>
                </a:solidFill>
                <a:latin typeface="Aptos"/>
              </a:rPr>
              <a:t>source.base_url — where to fetch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0">
                <a:solidFill>
                  <a:srgbClr val="19202A"/>
                </a:solidFill>
                <a:latin typeface="Aptos"/>
              </a:rPr>
              <a:t>endpoints — which paths to call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0">
                <a:solidFill>
                  <a:srgbClr val="19202A"/>
                </a:solidFill>
                <a:latin typeface="Aptos"/>
              </a:rPr>
              <a:t>mapping — where timestamp/value/quality live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0">
                <a:solidFill>
                  <a:srgbClr val="19202A"/>
                </a:solidFill>
                <a:latin typeface="Aptos"/>
              </a:rPr>
              <a:t>pagination — how to follow pages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0">
                <a:solidFill>
                  <a:srgbClr val="19202A"/>
                </a:solidFill>
                <a:latin typeface="Aptos"/>
              </a:rPr>
              <a:t>rollup_levels — optional bucket sizes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4023360"/>
            <a:ext cx="4572000" cy="1097280"/>
          </a:xfrm>
          <a:prstGeom prst="roundRect">
            <a:avLst/>
          </a:prstGeom>
          <a:solidFill>
            <a:srgbClr val="1B2636"/>
          </a:solidFill>
          <a:ln w="12700">
            <a:solidFill>
              <a:srgbClr val="1B2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93992" y="4114800"/>
            <a:ext cx="42519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900" b="1">
                <a:solidFill>
                  <a:srgbClr val="96CAFF"/>
                </a:solidFill>
                <a:latin typeface="Aptos"/>
              </a:rPr>
              <a:t>server/api/config.py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3992" y="4407408"/>
            <a:ext cx="4251960" cy="621792"/>
          </a:xfrm>
          <a:prstGeom prst="rect">
            <a:avLst/>
          </a:prstGeom>
          <a:noFill/>
        </p:spPr>
        <p:txBody>
          <a:bodyPr wrap="none" lIns="18288" rIns="18288" tIns="18288">
            <a:spAutoFit/>
          </a:bodyPr>
          <a:lstStyle/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if not value.startswith(("http://", "https://")):</a:t>
            </a:r>
          </a:p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    raise ValueError("base_url must be http(s)")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5193792"/>
            <a:ext cx="457200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98754"/>
                </a:solidFill>
                <a:latin typeface="Aptos"/>
              </a:rPr>
              <a:t>Plain English: Validation rejects unsafe or unusable source URLs before registration.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989320"/>
            <a:ext cx="11201400" cy="384048"/>
          </a:xfrm>
          <a:prstGeom prst="roundRect">
            <a:avLst/>
          </a:prstGeom>
          <a:solidFill>
            <a:srgbClr val="FFEFDC"/>
          </a:solidFill>
          <a:ln w="12700">
            <a:solidFill>
              <a:srgbClr val="D9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6053328"/>
            <a:ext cx="1088136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8A4B08"/>
                </a:solidFill>
                <a:latin typeface="Aptos"/>
              </a:rPr>
              <a:t>SPEAKER CUE  |  config.json is the bridge. It is data, not executable code.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47104"/>
            <a:ext cx="11201400" cy="10972"/>
          </a:xfrm>
          <a:prstGeom prst="rect">
            <a:avLst/>
          </a:prstGeom>
          <a:solidFill>
            <a:srgbClr val="DEE4EB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6601968"/>
            <a:ext cx="7772400" cy="164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86574"/>
                </a:solidFill>
                <a:latin typeface="Aptos"/>
              </a:rPr>
              <a:t>ANAVIZ  |  Dataset-independent time-series visualization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601968"/>
            <a:ext cx="502920" cy="164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800" b="0">
                <a:solidFill>
                  <a:srgbClr val="586574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365C"/>
                </a:solidFill>
                <a:latin typeface="Aptos"/>
              </a:rPr>
              <a:t>Canonical request and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86574"/>
                </a:solidFill>
                <a:latin typeface="Aptos"/>
              </a:rPr>
              <a:t>The contract keeps backend and frontend independent.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8404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1F6F8B"/>
                </a:solidFill>
                <a:latin typeface="Aptos"/>
              </a:rPr>
              <a:t>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349240" cy="4251960"/>
          </a:xfrm>
          <a:prstGeom prst="roundRect">
            <a:avLst/>
          </a:prstGeom>
          <a:solidFill>
            <a:srgbClr val="E1EFFC"/>
          </a:solidFill>
          <a:ln w="1270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484632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000" b="1">
                <a:solidFill>
                  <a:srgbClr val="1F6F8B"/>
                </a:solidFill>
                <a:latin typeface="Aptos"/>
              </a:rPr>
              <a:t>REQUEST: SeriesQuery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965960"/>
            <a:ext cx="4800600" cy="2194560"/>
          </a:xfrm>
          <a:prstGeom prst="roundRect">
            <a:avLst/>
          </a:prstGeom>
          <a:solidFill>
            <a:srgbClr val="1B2636"/>
          </a:solidFill>
          <a:ln w="12700">
            <a:solidFill>
              <a:srgbClr val="1B2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057400"/>
            <a:ext cx="44805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900" b="1">
                <a:solidFill>
                  <a:srgbClr val="96CAFF"/>
                </a:solidFill>
                <a:latin typeface="Aptos"/>
              </a:rPr>
              <a:t>server/api/contracts.py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350008"/>
            <a:ext cx="4480560" cy="1719072"/>
          </a:xfrm>
          <a:prstGeom prst="rect">
            <a:avLst/>
          </a:prstGeom>
          <a:noFill/>
        </p:spPr>
        <p:txBody>
          <a:bodyPr wrap="none" lIns="18288" rIns="18288" tIns="18288">
            <a:spAutoFit/>
          </a:bodyPr>
          <a:lstStyle/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dataset_id</a:t>
            </a:r>
          </a:p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entity_ids</a:t>
            </a:r>
          </a:p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measure_ids</a:t>
            </a:r>
          </a:p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range: start / end</a:t>
            </a:r>
          </a:p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resolution: pixels × points</a:t>
            </a:r>
          </a:p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downsampling: M4 / LTTB / RAW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33672"/>
            <a:ext cx="480060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98754"/>
                </a:solidFill>
                <a:latin typeface="Aptos"/>
              </a:rPr>
              <a:t>Plain English: The browser describes what it wants; it does not choose SQL.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234440"/>
            <a:ext cx="5349240" cy="4251960"/>
          </a:xfrm>
          <a:prstGeom prst="roundRect">
            <a:avLst/>
          </a:prstGeom>
          <a:solidFill>
            <a:srgbClr val="E1F4EB"/>
          </a:solidFill>
          <a:ln w="1270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08760"/>
            <a:ext cx="484632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000" b="1">
                <a:solidFill>
                  <a:srgbClr val="198754"/>
                </a:solidFill>
                <a:latin typeface="Aptos"/>
              </a:rPr>
              <a:t>RESPONSE: CanonicalSeries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965960"/>
            <a:ext cx="4800600" cy="2194560"/>
          </a:xfrm>
          <a:prstGeom prst="roundRect">
            <a:avLst/>
          </a:prstGeom>
          <a:solidFill>
            <a:srgbClr val="1B2636"/>
          </a:solidFill>
          <a:ln w="12700">
            <a:solidFill>
              <a:srgbClr val="1B2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1" y="2057400"/>
            <a:ext cx="44805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900" b="1">
                <a:solidFill>
                  <a:srgbClr val="96CAFF"/>
                </a:solidFill>
                <a:latin typeface="Aptos"/>
              </a:rPr>
              <a:t>server/api/contracts.py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1" y="2350008"/>
            <a:ext cx="4480560" cy="1719072"/>
          </a:xfrm>
          <a:prstGeom prst="rect">
            <a:avLst/>
          </a:prstGeom>
          <a:noFill/>
        </p:spPr>
        <p:txBody>
          <a:bodyPr wrap="none" lIns="18288" rIns="18288" tIns="18288">
            <a:spAutoFit/>
          </a:bodyPr>
          <a:lstStyle/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points: t / value / min / max</a:t>
            </a:r>
          </a:p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gaps</a:t>
            </a:r>
          </a:p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quality_summary</a:t>
            </a:r>
          </a:p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fidelity</a:t>
            </a:r>
          </a:p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metrics: source / scanned / returned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233672"/>
            <a:ext cx="480060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98754"/>
                </a:solidFill>
                <a:latin typeface="Aptos"/>
              </a:rPr>
              <a:t>Plain English: The result explains both the values and how they were produced.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989320"/>
            <a:ext cx="11201400" cy="384048"/>
          </a:xfrm>
          <a:prstGeom prst="roundRect">
            <a:avLst/>
          </a:prstGeom>
          <a:solidFill>
            <a:srgbClr val="FFEFDC"/>
          </a:solidFill>
          <a:ln w="12700">
            <a:solidFill>
              <a:srgbClr val="D9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053328"/>
            <a:ext cx="1088136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8A4B08"/>
                </a:solidFill>
                <a:latin typeface="Aptos"/>
              </a:rPr>
              <a:t>SPEAKER CUE  |  This is the central abstraction: source-specific data enters, canonical evidence leaves.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47104"/>
            <a:ext cx="11201400" cy="10972"/>
          </a:xfrm>
          <a:prstGeom prst="rect">
            <a:avLst/>
          </a:prstGeom>
          <a:solidFill>
            <a:srgbClr val="DEE4EB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6601968"/>
            <a:ext cx="7772400" cy="164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86574"/>
                </a:solidFill>
                <a:latin typeface="Aptos"/>
              </a:rPr>
              <a:t>ANAVIZ  |  Dataset-independent time-series visualization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601968"/>
            <a:ext cx="502920" cy="164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800" b="0">
                <a:solidFill>
                  <a:srgbClr val="586574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365C"/>
                </a:solidFill>
                <a:latin typeface="Aptos"/>
              </a:rPr>
              <a:t>Query pipeline: from click to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86574"/>
                </a:solidFill>
                <a:latin typeface="Aptos"/>
              </a:rPr>
              <a:t>One user action triggers a controlled six-stage 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8404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1F6F8B"/>
                </a:solidFill>
                <a:latin typeface="Aptos"/>
              </a:rPr>
              <a:t>QUERY</a:t>
            </a:r>
          </a:p>
        </p:txBody>
      </p:sp>
      <p:pic>
        <p:nvPicPr>
          <p:cNvPr id="6" name="Picture 5" descr="07_query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193" y="1234440"/>
            <a:ext cx="8996572" cy="4160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989320"/>
            <a:ext cx="11201400" cy="384048"/>
          </a:xfrm>
          <a:prstGeom prst="roundRect">
            <a:avLst/>
          </a:prstGeom>
          <a:solidFill>
            <a:srgbClr val="FFEFDC"/>
          </a:solidFill>
          <a:ln w="12700">
            <a:solidFill>
              <a:srgbClr val="D9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053328"/>
            <a:ext cx="1088136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8A4B08"/>
                </a:solidFill>
                <a:latin typeface="Aptos"/>
              </a:rPr>
              <a:t>SPEAKER CUE  |  Hydrate only missing ranges, select a suitable tier, downsample to the pixel budget, and return fidelity metadata.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47104"/>
            <a:ext cx="11201400" cy="10972"/>
          </a:xfrm>
          <a:prstGeom prst="rect">
            <a:avLst/>
          </a:prstGeom>
          <a:solidFill>
            <a:srgbClr val="DEE4EB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601968"/>
            <a:ext cx="7772400" cy="164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86574"/>
                </a:solidFill>
                <a:latin typeface="Aptos"/>
              </a:rPr>
              <a:t>ANAVIZ  |  Dataset-independent time-series visualization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502920" cy="164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800" b="0">
                <a:solidFill>
                  <a:srgbClr val="586574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365C"/>
                </a:solidFill>
                <a:latin typeface="Aptos"/>
              </a:rPr>
              <a:t>Hydration: fetch only what is missing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86574"/>
                </a:solidFill>
                <a:latin typeface="Aptos"/>
              </a:rPr>
              <a:t>The first query may be slower; later queries reuse the project cache.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8404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1F6F8B"/>
                </a:solidFill>
                <a:latin typeface="Aptos"/>
              </a:rPr>
              <a:t>CACHE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760720" cy="3429000"/>
          </a:xfrm>
          <a:prstGeom prst="roundRect">
            <a:avLst/>
          </a:prstGeom>
          <a:solidFill>
            <a:srgbClr val="1B2636"/>
          </a:solidFill>
          <a:ln w="12700">
            <a:solidFill>
              <a:srgbClr val="1B2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325880"/>
            <a:ext cx="54406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900" b="1">
                <a:solidFill>
                  <a:srgbClr val="96CAFF"/>
                </a:solidFill>
                <a:latin typeface="Aptos"/>
              </a:rPr>
              <a:t>server/api/configurable.py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618488"/>
            <a:ext cx="5440680" cy="2953512"/>
          </a:xfrm>
          <a:prstGeom prst="rect">
            <a:avLst/>
          </a:prstGeom>
          <a:noFill/>
        </p:spPr>
        <p:txBody>
          <a:bodyPr wrap="none" lIns="18288" rIns="18288" tIns="18288">
            <a:spAutoFit/>
          </a:bodyPr>
          <a:lstStyle/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covered = await cache.coverage(entity, measure, start, end)</a:t>
            </a:r>
          </a:p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gaps = coverage_gaps(start, end, covered)</a:t>
            </a:r>
          </a:p>
          <a:p>
            <a:pPr>
              <a:lnSpc>
                <a:spcPct val="88000"/>
              </a:lnSpc>
              <a:spcAft>
                <a:spcPts val="0"/>
              </a:spcAft>
            </a:pPr>
          </a:p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for a, b in gaps:</a:t>
            </a:r>
          </a:p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    rows = await fetch_source(a, b)</a:t>
            </a:r>
          </a:p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    await cache.store(entity, measure, rows)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36592"/>
            <a:ext cx="576072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98754"/>
                </a:solidFill>
                <a:latin typeface="Aptos"/>
              </a:rPr>
              <a:t>Plain English: Coverage tells the adapter which portions have already been checked. Only uncovered portions go back to the source.</a:t>
            </a:r>
          </a:p>
        </p:txBody>
      </p:sp>
      <p:pic>
        <p:nvPicPr>
          <p:cNvPr id="10" name="Picture 9" descr="10_cache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781106"/>
            <a:ext cx="5074920" cy="288430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5989320"/>
            <a:ext cx="11201400" cy="384048"/>
          </a:xfrm>
          <a:prstGeom prst="roundRect">
            <a:avLst/>
          </a:prstGeom>
          <a:solidFill>
            <a:srgbClr val="FFEFDC"/>
          </a:solidFill>
          <a:ln w="12700">
            <a:solidFill>
              <a:srgbClr val="D9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6053328"/>
            <a:ext cx="1088136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8A4B08"/>
                </a:solidFill>
                <a:latin typeface="Aptos"/>
              </a:rPr>
              <a:t>SPEAKER CUE  |  cache_series stores samples; cache_coverage avoids repeated probes; cache_rollup stores optional summaries. dataset_key isolates configurations.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47104"/>
            <a:ext cx="11201400" cy="10972"/>
          </a:xfrm>
          <a:prstGeom prst="rect">
            <a:avLst/>
          </a:prstGeom>
          <a:solidFill>
            <a:srgbClr val="DEE4EB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6601968"/>
            <a:ext cx="7772400" cy="164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86574"/>
                </a:solidFill>
                <a:latin typeface="Aptos"/>
              </a:rPr>
              <a:t>ANAVIZ  |  Dataset-independent time-series visualization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601968"/>
            <a:ext cx="502920" cy="164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800" b="0">
                <a:solidFill>
                  <a:srgbClr val="586574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365C"/>
                </a:solidFill>
                <a:latin typeface="Aptos"/>
              </a:rPr>
              <a:t>Rollup tiers: less data, same important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86574"/>
                </a:solidFill>
                <a:latin typeface="Aptos"/>
              </a:rPr>
              <a:t>Rollups are explicit and opt-in.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8404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1F6F8B"/>
                </a:solidFill>
                <a:latin typeface="Aptos"/>
              </a:rPr>
              <a:t>PERFORMANCE</a:t>
            </a:r>
          </a:p>
        </p:txBody>
      </p:sp>
      <p:pic>
        <p:nvPicPr>
          <p:cNvPr id="6" name="Picture 5" descr="03_rollup_buck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93391"/>
            <a:ext cx="5486400" cy="2743200"/>
          </a:xfrm>
          <a:prstGeom prst="rect">
            <a:avLst/>
          </a:prstGeom>
        </p:spPr>
      </p:pic>
      <p:pic>
        <p:nvPicPr>
          <p:cNvPr id="7" name="Picture 6" descr="04_tier_sel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304288"/>
            <a:ext cx="5303520" cy="212140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5989320"/>
            <a:ext cx="11201400" cy="384048"/>
          </a:xfrm>
          <a:prstGeom prst="roundRect">
            <a:avLst/>
          </a:prstGeom>
          <a:solidFill>
            <a:srgbClr val="FFEFDC"/>
          </a:solidFill>
          <a:ln w="12700">
            <a:solidFill>
              <a:srgbClr val="D9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053328"/>
            <a:ext cx="1088136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8A4B08"/>
                </a:solidFill>
                <a:latin typeface="Aptos"/>
              </a:rPr>
              <a:t>SPEAKER CUE  |  A bucket keeps first, min, max, last, average, count, and quality. Short spans stay raw; large spans use coarser configured tiers.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47104"/>
            <a:ext cx="11201400" cy="10972"/>
          </a:xfrm>
          <a:prstGeom prst="rect">
            <a:avLst/>
          </a:prstGeom>
          <a:solidFill>
            <a:srgbClr val="DEE4EB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6601968"/>
            <a:ext cx="7772400" cy="164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86574"/>
                </a:solidFill>
                <a:latin typeface="Aptos"/>
              </a:rPr>
              <a:t>ANAVIZ  |  Dataset-independent time-series visualization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601968"/>
            <a:ext cx="502920" cy="164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800" b="0">
                <a:solidFill>
                  <a:srgbClr val="586574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365C"/>
                </a:solidFill>
                <a:latin typeface="Aptos"/>
              </a:rPr>
              <a:t>Downsampling: fit the screen, preserve the 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86574"/>
                </a:solidFill>
                <a:latin typeface="Aptos"/>
              </a:rPr>
              <a:t>The point budget comes from pixels, not an arbitrary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8404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1F6F8B"/>
                </a:solidFill>
                <a:latin typeface="Aptos"/>
              </a:rPr>
              <a:t>PERFORMANCE</a:t>
            </a:r>
          </a:p>
        </p:txBody>
      </p:sp>
      <p:pic>
        <p:nvPicPr>
          <p:cNvPr id="6" name="Picture 5" descr="02_downsam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602" y="1024128"/>
            <a:ext cx="5838034" cy="4800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234440"/>
            <a:ext cx="4160520" cy="3291840"/>
          </a:xfrm>
          <a:prstGeom prst="roundRect">
            <a:avLst/>
          </a:prstGeom>
          <a:solidFill>
            <a:srgbClr val="EFE8FA"/>
          </a:solidFill>
          <a:ln w="127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554480"/>
            <a:ext cx="3611880" cy="1783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>
                <a:solidFill>
                  <a:srgbClr val="6F42C1"/>
                </a:solidFill>
                <a:latin typeface="Aptos"/>
              </a:rPr>
              <a:t>Algorithms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>
                <a:solidFill>
                  <a:srgbClr val="19202A"/>
                </a:solidFill>
                <a:latin typeface="Aptos"/>
              </a:rPr>
              <a:t>RAW — exact selected points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>
                <a:solidFill>
                  <a:srgbClr val="19202A"/>
                </a:solidFill>
                <a:latin typeface="Aptos"/>
              </a:rPr>
              <a:t>M4 — first/min/max/last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>
                <a:solidFill>
                  <a:srgbClr val="19202A"/>
                </a:solidFill>
                <a:latin typeface="Aptos"/>
              </a:rPr>
              <a:t>LTTB — shape-aware selection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>
                <a:solidFill>
                  <a:srgbClr val="19202A"/>
                </a:solidFill>
                <a:latin typeface="Aptos"/>
              </a:rPr>
              <a:t>MINMAXLTTB — shape + extrema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3840480"/>
            <a:ext cx="4160520" cy="1188720"/>
          </a:xfrm>
          <a:prstGeom prst="roundRect">
            <a:avLst/>
          </a:prstGeom>
          <a:solidFill>
            <a:srgbClr val="1B2636"/>
          </a:solidFill>
          <a:ln w="12700">
            <a:solidFill>
              <a:srgbClr val="1B2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25512" y="3931920"/>
            <a:ext cx="38404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900" b="1">
                <a:solidFill>
                  <a:srgbClr val="96CAFF"/>
                </a:solidFill>
                <a:latin typeface="Aptos"/>
              </a:rPr>
              <a:t>server/downsample/__init__.py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5512" y="4224528"/>
            <a:ext cx="3840480" cy="713232"/>
          </a:xfrm>
          <a:prstGeom prst="rect">
            <a:avLst/>
          </a:prstGeom>
          <a:noFill/>
        </p:spPr>
        <p:txBody>
          <a:bodyPr wrap="none" lIns="18288" rIns="18288" tIns="18288">
            <a:spAutoFit/>
          </a:bodyPr>
          <a:lstStyle/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budget = pixel_width * points_per_pixel</a:t>
            </a:r>
          </a:p>
          <a:p>
            <a:pPr>
              <a:lnSpc>
                <a:spcPct val="88000"/>
              </a:lnSpc>
              <a:spcAft>
                <a:spcPts val="0"/>
              </a:spcAft>
            </a:pPr>
          </a:p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if algo == "RAW": return payload</a:t>
            </a:r>
          </a:p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if algo == "M4": return m4_series(...)</a:t>
            </a:r>
          </a:p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if algo == "LTTB": return lttb_indices(...)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5102352"/>
            <a:ext cx="416052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98754"/>
                </a:solidFill>
                <a:latin typeface="Aptos"/>
              </a:rPr>
              <a:t>Plain English: Only the display response is reduced; raw cache rows remain available.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989320"/>
            <a:ext cx="11201400" cy="384048"/>
          </a:xfrm>
          <a:prstGeom prst="roundRect">
            <a:avLst/>
          </a:prstGeom>
          <a:solidFill>
            <a:srgbClr val="FFEFDC"/>
          </a:solidFill>
          <a:ln w="12700">
            <a:solidFill>
              <a:srgbClr val="D9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053328"/>
            <a:ext cx="1088136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8A4B08"/>
                </a:solidFill>
                <a:latin typeface="Aptos"/>
              </a:rPr>
              <a:t>SPEAKER CUE  |  With 1,000 pixels and 2 points per pixel, the target is about 2,000 display points.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47104"/>
            <a:ext cx="11201400" cy="10972"/>
          </a:xfrm>
          <a:prstGeom prst="rect">
            <a:avLst/>
          </a:prstGeom>
          <a:solidFill>
            <a:srgbClr val="DEE4EB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6601968"/>
            <a:ext cx="7772400" cy="164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86574"/>
                </a:solidFill>
                <a:latin typeface="Aptos"/>
              </a:rPr>
              <a:t>ANAVIZ  |  Dataset-independent time-series visualization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601968"/>
            <a:ext cx="502920" cy="164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800" b="0">
                <a:solidFill>
                  <a:srgbClr val="586574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365C"/>
                </a:solidFill>
                <a:latin typeface="Aptos"/>
              </a:rPr>
              <a:t>Gap preservation: missing data is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86574"/>
                </a:solidFill>
                <a:latin typeface="Aptos"/>
              </a:rPr>
              <a:t>Anaviz does not draw a false line through an unobserved interval.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8404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1F6F8B"/>
                </a:solidFill>
                <a:latin typeface="Aptos"/>
              </a:rPr>
              <a:t>FIDELITY</a:t>
            </a:r>
          </a:p>
        </p:txBody>
      </p:sp>
      <p:pic>
        <p:nvPicPr>
          <p:cNvPr id="6" name="Picture 5" descr="01_raw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38428"/>
            <a:ext cx="5394960" cy="2157984"/>
          </a:xfrm>
          <a:prstGeom prst="rect">
            <a:avLst/>
          </a:prstGeom>
        </p:spPr>
      </p:pic>
      <p:pic>
        <p:nvPicPr>
          <p:cNvPr id="7" name="Picture 6" descr="05_gap_preserv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34706"/>
            <a:ext cx="5440680" cy="335998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3703320"/>
            <a:ext cx="5166360" cy="1097280"/>
          </a:xfrm>
          <a:prstGeom prst="roundRect">
            <a:avLst/>
          </a:prstGeom>
          <a:solidFill>
            <a:srgbClr val="1B2636"/>
          </a:solidFill>
          <a:ln w="12700">
            <a:solidFill>
              <a:srgbClr val="1B2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3794759"/>
            <a:ext cx="484632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900" b="1">
                <a:solidFill>
                  <a:srgbClr val="96CAFF"/>
                </a:solidFill>
                <a:latin typeface="Aptos"/>
              </a:rPr>
              <a:t>server/api/common.py + frontend/utils.js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4087368"/>
            <a:ext cx="4846320" cy="621792"/>
          </a:xfrm>
          <a:prstGeom prst="rect">
            <a:avLst/>
          </a:prstGeom>
          <a:noFill/>
        </p:spPr>
        <p:txBody>
          <a:bodyPr wrap="none" lIns="18288" rIns="18288" tIns="18288">
            <a:spAutoFit/>
          </a:bodyPr>
          <a:lstStyle/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if timestamp_gap &gt; threshold:</a:t>
            </a:r>
          </a:p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    gaps.append([start, end])</a:t>
            </a:r>
          </a:p>
          <a:p>
            <a:pPr>
              <a:lnSpc>
                <a:spcPct val="88000"/>
              </a:lnSpc>
              <a:spcAft>
                <a:spcPts val="0"/>
              </a:spcAft>
            </a:pPr>
          </a:p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if in_gap:</a:t>
            </a:r>
          </a:p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    value = null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73752"/>
            <a:ext cx="5166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98754"/>
                </a:solidFill>
                <a:latin typeface="Aptos"/>
              </a:rPr>
              <a:t>Plain English: The backend declares the gap; the frontend inserts null so the line breaks.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989320"/>
            <a:ext cx="11201400" cy="384048"/>
          </a:xfrm>
          <a:prstGeom prst="roundRect">
            <a:avLst/>
          </a:prstGeom>
          <a:solidFill>
            <a:srgbClr val="FFEFDC"/>
          </a:solidFill>
          <a:ln w="12700">
            <a:solidFill>
              <a:srgbClr val="D9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6053328"/>
            <a:ext cx="1088136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8A4B08"/>
                </a:solidFill>
                <a:latin typeface="Aptos"/>
              </a:rPr>
              <a:t>SPEAKER CUE  |  Missing is not zero. The tooltip and visible break tell the operator that the source had no observation.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47104"/>
            <a:ext cx="11201400" cy="10972"/>
          </a:xfrm>
          <a:prstGeom prst="rect">
            <a:avLst/>
          </a:prstGeom>
          <a:solidFill>
            <a:srgbClr val="DEE4EB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6601968"/>
            <a:ext cx="7772400" cy="164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86574"/>
                </a:solidFill>
                <a:latin typeface="Aptos"/>
              </a:rPr>
              <a:t>ANAVIZ  |  Dataset-independent time-series visualization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601968"/>
            <a:ext cx="502920" cy="164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800" b="0">
                <a:solidFill>
                  <a:srgbClr val="586574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365C"/>
                </a:solidFill>
                <a:latin typeface="Aptos"/>
              </a:rPr>
              <a:t>Dense ranges: no silent truncation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86574"/>
                </a:solidFill>
                <a:latin typeface="Aptos"/>
              </a:rPr>
              <a:t>row_cap triggers aggregation, not an early chart stop.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8404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1F6F8B"/>
                </a:solidFill>
                <a:latin typeface="Aptos"/>
              </a:rPr>
              <a:t>FIDELITY</a:t>
            </a:r>
          </a:p>
        </p:txBody>
      </p:sp>
      <p:pic>
        <p:nvPicPr>
          <p:cNvPr id="6" name="Picture 5" descr="08_no_data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3315"/>
            <a:ext cx="6537960" cy="40376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52360" y="1463040"/>
            <a:ext cx="4069080" cy="2286000"/>
          </a:xfrm>
          <a:prstGeom prst="roundRect">
            <a:avLst/>
          </a:prstGeom>
          <a:solidFill>
            <a:srgbClr val="1B2636"/>
          </a:solidFill>
          <a:ln w="12700">
            <a:solidFill>
              <a:srgbClr val="1B2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16952" y="1554480"/>
            <a:ext cx="37490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900" b="1">
                <a:solidFill>
                  <a:srgbClr val="96CAFF"/>
                </a:solidFill>
                <a:latin typeface="Aptos"/>
              </a:rPr>
              <a:t>server/api/configurable.py — dense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6952" y="1847088"/>
            <a:ext cx="3749040" cy="1810512"/>
          </a:xfrm>
          <a:prstGeom prst="rect">
            <a:avLst/>
          </a:prstGeom>
          <a:noFill/>
        </p:spPr>
        <p:txBody>
          <a:bodyPr wrap="none" lIns="18288" rIns="18288" tIns="18288">
            <a:spAutoFit/>
          </a:bodyPr>
          <a:lstStyle/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if total &gt; row_cap:</a:t>
            </a:r>
          </a:p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    bucket_s = span_seconds / pixel_budget</a:t>
            </a:r>
          </a:p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    data = read_bucketed(bucket_s)</a:t>
            </a:r>
          </a:p>
          <a:p>
            <a:pPr>
              <a:lnSpc>
                <a:spcPct val="88000"/>
              </a:lnSpc>
              <a:spcAft>
                <a:spcPts val="0"/>
              </a:spcAft>
            </a:pPr>
          </a:p>
          <a:p>
            <a:pPr>
              <a:lnSpc>
                <a:spcPct val="88000"/>
              </a:lnSpc>
              <a:spcAft>
                <a:spcPts val="0"/>
              </a:spcAft>
            </a:pPr>
            <a:r>
              <a:rPr sz="1000">
                <a:solidFill>
                  <a:srgbClr val="E5EFFA"/>
                </a:solidFill>
                <a:latin typeface="Cascadia Mono"/>
              </a:rPr>
              <a:t># SQL uses min, max, avg, count, first, last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22191"/>
            <a:ext cx="406908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98754"/>
                </a:solidFill>
                <a:latin typeface="Aptos"/>
              </a:rPr>
              <a:t>Plain English: Every cached row contributes to a pixel-sized bucket; the rendered response still preserves the full time range and extrema.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4160520"/>
            <a:ext cx="4069080" cy="914400"/>
          </a:xfrm>
          <a:prstGeom prst="roundRect">
            <a:avLst/>
          </a:prstGeom>
          <a:solidFill>
            <a:srgbClr val="E1F4EB"/>
          </a:solidFill>
          <a:ln w="1270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4370832"/>
            <a:ext cx="3611880" cy="47548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198754"/>
                </a:solidFill>
                <a:latin typeface="Aptos"/>
              </a:rPr>
              <a:t>Raw rows remain in cache_series.
The chart receives a faithful summary, not a truncated prefix.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989320"/>
            <a:ext cx="11201400" cy="384048"/>
          </a:xfrm>
          <a:prstGeom prst="roundRect">
            <a:avLst/>
          </a:prstGeom>
          <a:solidFill>
            <a:srgbClr val="FFEFDC"/>
          </a:solidFill>
          <a:ln w="12700">
            <a:solidFill>
              <a:srgbClr val="D9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053328"/>
            <a:ext cx="1088136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8A4B08"/>
                </a:solidFill>
                <a:latin typeface="Aptos"/>
              </a:rPr>
              <a:t>SPEAKER CUE  |  The important distinction: not every raw row is drawn individually, but no part of the requested range is silently thrown away.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47104"/>
            <a:ext cx="11201400" cy="10972"/>
          </a:xfrm>
          <a:prstGeom prst="rect">
            <a:avLst/>
          </a:prstGeom>
          <a:solidFill>
            <a:srgbClr val="DEE4EB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6601968"/>
            <a:ext cx="7772400" cy="164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86574"/>
                </a:solidFill>
                <a:latin typeface="Aptos"/>
              </a:rPr>
              <a:t>ANAVIZ  |  Dataset-independent time-series visualization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601968"/>
            <a:ext cx="502920" cy="164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800" b="0">
                <a:solidFill>
                  <a:srgbClr val="586574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365C"/>
                </a:solidFill>
                <a:latin typeface="Aptos"/>
              </a:rPr>
              <a:t>One response, three coordinated frontend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86574"/>
                </a:solidFill>
                <a:latin typeface="Aptos"/>
              </a:rPr>
              <a:t>The canonical response feeds chart, heatmap, and histogram.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8404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1F6F8B"/>
                </a:solidFill>
                <a:latin typeface="Aptos"/>
              </a:rPr>
              <a:t>FRONTEND</a:t>
            </a:r>
          </a:p>
        </p:txBody>
      </p:sp>
      <p:pic>
        <p:nvPicPr>
          <p:cNvPr id="6" name="Picture 5" descr="11_frontend_pa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083" y="1143000"/>
            <a:ext cx="7803072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989320"/>
            <a:ext cx="11201400" cy="384048"/>
          </a:xfrm>
          <a:prstGeom prst="roundRect">
            <a:avLst/>
          </a:prstGeom>
          <a:solidFill>
            <a:srgbClr val="FFEFDC"/>
          </a:solidFill>
          <a:ln w="12700">
            <a:solidFill>
              <a:srgbClr val="D9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053328"/>
            <a:ext cx="1088136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8A4B08"/>
                </a:solidFill>
                <a:latin typeface="Aptos"/>
              </a:rPr>
              <a:t>SPEAKER CUE  |  chart.js shows time and bands; heatmap.js shows abnormality by entity and time; histogram.js shows value distributions from already-fetched data.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47104"/>
            <a:ext cx="11201400" cy="10972"/>
          </a:xfrm>
          <a:prstGeom prst="rect">
            <a:avLst/>
          </a:prstGeom>
          <a:solidFill>
            <a:srgbClr val="DEE4EB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601968"/>
            <a:ext cx="7772400" cy="164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86574"/>
                </a:solidFill>
                <a:latin typeface="Aptos"/>
              </a:rPr>
              <a:t>ANAVIZ  |  Dataset-independent time-series visualization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502920" cy="164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800" b="0">
                <a:solidFill>
                  <a:srgbClr val="586574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365C"/>
                </a:solidFill>
                <a:latin typeface="Aptos"/>
              </a:rPr>
              <a:t>How to explain code snippets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86574"/>
                </a:solidFill>
                <a:latin typeface="Aptos"/>
              </a:rPr>
              <a:t>Always connect code to behavior and to what the audience sees.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8404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1F6F8B"/>
                </a:solidFill>
                <a:latin typeface="Aptos"/>
              </a:rPr>
              <a:t>PRESENTATION</a:t>
            </a:r>
          </a:p>
        </p:txBody>
      </p:sp>
      <p:pic>
        <p:nvPicPr>
          <p:cNvPr id="6" name="Picture 5" descr="12_code_to_behav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060" y="1097280"/>
            <a:ext cx="8961120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989320"/>
            <a:ext cx="11201400" cy="384048"/>
          </a:xfrm>
          <a:prstGeom prst="roundRect">
            <a:avLst/>
          </a:prstGeom>
          <a:solidFill>
            <a:srgbClr val="FFEFDC"/>
          </a:solidFill>
          <a:ln w="12700">
            <a:solidFill>
              <a:srgbClr val="D9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053328"/>
            <a:ext cx="1088136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8A4B08"/>
                </a:solidFill>
                <a:latin typeface="Aptos"/>
              </a:rPr>
              <a:t>SPEAKER CUE  |  For every snippet answer three questions: what enters, what happens, and what does the user see?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47104"/>
            <a:ext cx="11201400" cy="10972"/>
          </a:xfrm>
          <a:prstGeom prst="rect">
            <a:avLst/>
          </a:prstGeom>
          <a:solidFill>
            <a:srgbClr val="DEE4EB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601968"/>
            <a:ext cx="7772400" cy="164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86574"/>
                </a:solidFill>
                <a:latin typeface="Aptos"/>
              </a:rPr>
              <a:t>ANAVIZ  |  Dataset-independent time-series visualization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502920" cy="164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800" b="0">
                <a:solidFill>
                  <a:srgbClr val="586574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365C"/>
                </a:solidFill>
                <a:latin typeface="Aptos"/>
              </a:rPr>
              <a:t>Where the important code lives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86574"/>
                </a:solidFill>
                <a:latin typeface="Aptos"/>
              </a:rPr>
              <a:t>Use this slide if someone asks for implementation details.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8404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1F6F8B"/>
                </a:solidFill>
                <a:latin typeface="Aptos"/>
              </a:rPr>
              <a:t>CODE 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5440680" cy="4526280"/>
          </a:xfrm>
          <a:prstGeom prst="roundRect">
            <a:avLst/>
          </a:prstGeom>
          <a:solidFill>
            <a:srgbClr val="E1EFFC"/>
          </a:solidFill>
          <a:ln w="1270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17320"/>
            <a:ext cx="475488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900" b="1">
                <a:solidFill>
                  <a:srgbClr val="1F6F8B"/>
                </a:solidFill>
                <a:latin typeface="Aptos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4800600" cy="33375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19202A"/>
                </a:solidFill>
                <a:latin typeface="Aptos"/>
              </a:rPr>
              <a:t>• server/app.py — routes and adapter registry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19202A"/>
                </a:solidFill>
                <a:latin typeface="Aptos"/>
              </a:rPr>
              <a:t>• server/api/config.py — config validation/fingerprint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19202A"/>
                </a:solidFill>
                <a:latin typeface="Aptos"/>
              </a:rPr>
              <a:t>• server/api/contracts.py — canonical models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19202A"/>
                </a:solidFill>
                <a:latin typeface="Aptos"/>
              </a:rPr>
              <a:t>• server/api/configurable.py — fetch/cache/query/fidelity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19202A"/>
                </a:solidFill>
                <a:latin typeface="Aptos"/>
              </a:rPr>
              <a:t>• server/api/common.py — gaps/coverage/matrix math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19202A"/>
                </a:solidFill>
                <a:latin typeface="Aptos"/>
              </a:rPr>
              <a:t>• server/downsample/ — rollups and algorithms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19202A"/>
                </a:solidFill>
                <a:latin typeface="Aptos"/>
              </a:rPr>
              <a:t>• db/cache_schema.sql — generic cache tables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143000"/>
            <a:ext cx="5349240" cy="4526280"/>
          </a:xfrm>
          <a:prstGeom prst="roundRect">
            <a:avLst/>
          </a:prstGeom>
          <a:solidFill>
            <a:srgbClr val="E1F4EB"/>
          </a:solidFill>
          <a:ln w="1270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417320"/>
            <a:ext cx="484632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900" b="1">
                <a:solidFill>
                  <a:srgbClr val="198754"/>
                </a:solidFill>
                <a:latin typeface="Aptos"/>
              </a:rPr>
              <a:t>DATASOURCE + 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754880" cy="33375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19202A"/>
                </a:solidFill>
                <a:latin typeface="Aptos"/>
              </a:rPr>
              <a:t>• datasource/ingest_hlt.py — CSV to source DB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19202A"/>
                </a:solidFill>
                <a:latin typeface="Aptos"/>
              </a:rPr>
              <a:t>• datasource/archive_server.py — /archive/* HTTP API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19202A"/>
                </a:solidFill>
                <a:latin typeface="Aptos"/>
              </a:rPr>
              <a:t>• frontend/app.js — state and API calls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19202A"/>
                </a:solidFill>
                <a:latin typeface="Aptos"/>
              </a:rPr>
              <a:t>• frontend/chart.js — uPlot chart and tooltip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19202A"/>
                </a:solidFill>
                <a:latin typeface="Aptos"/>
              </a:rPr>
              <a:t>• frontend/heatmap.js — Canvas matrix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19202A"/>
                </a:solidFill>
                <a:latin typeface="Aptos"/>
              </a:rPr>
              <a:t>• frontend/histogram.js — distributions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19202A"/>
                </a:solidFill>
                <a:latin typeface="Aptos"/>
              </a:rPr>
              <a:t>• frontend/utils.js — alignment and gap nulls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989320"/>
            <a:ext cx="11201400" cy="384048"/>
          </a:xfrm>
          <a:prstGeom prst="roundRect">
            <a:avLst/>
          </a:prstGeom>
          <a:solidFill>
            <a:srgbClr val="FFEFDC"/>
          </a:solidFill>
          <a:ln w="12700">
            <a:solidFill>
              <a:srgbClr val="D9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6053328"/>
            <a:ext cx="1088136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8A4B08"/>
                </a:solidFill>
                <a:latin typeface="Aptos"/>
              </a:rPr>
              <a:t>SPEAKER CUE  |  The generic project never imports the HLT-specific datasource package; HTTP plus config is the boundary.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47104"/>
            <a:ext cx="11201400" cy="10972"/>
          </a:xfrm>
          <a:prstGeom prst="rect">
            <a:avLst/>
          </a:prstGeom>
          <a:solidFill>
            <a:srgbClr val="DEE4EB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6601968"/>
            <a:ext cx="7772400" cy="164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86574"/>
                </a:solidFill>
                <a:latin typeface="Aptos"/>
              </a:rPr>
              <a:t>ANAVIZ  |  Dataset-independent time-series visualization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601968"/>
            <a:ext cx="502920" cy="164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800" b="0">
                <a:solidFill>
                  <a:srgbClr val="586574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365C"/>
                </a:solidFill>
                <a:latin typeface="Aptos"/>
              </a:rPr>
              <a:t>The five guarantees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86574"/>
                </a:solidFill>
                <a:latin typeface="Aptos"/>
              </a:rPr>
              <a:t>These are the strongest claims in the presentation.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8404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1F6F8B"/>
                </a:solidFill>
                <a:latin typeface="Aptos"/>
              </a:rPr>
              <a:t>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43000"/>
            <a:ext cx="566928" cy="566928"/>
          </a:xfrm>
          <a:prstGeom prst="roundRect">
            <a:avLst/>
          </a:prstGeom>
          <a:solidFill>
            <a:srgbClr val="1F6F8B"/>
          </a:solidFill>
          <a:ln w="1270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43584"/>
            <a:ext cx="566928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08760" y="1143000"/>
            <a:ext cx="9966960" cy="566928"/>
          </a:xfrm>
          <a:prstGeom prst="roundRect">
            <a:avLst/>
          </a:prstGeom>
          <a:solidFill>
            <a:srgbClr val="E1EFFC"/>
          </a:solidFill>
          <a:ln w="1270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55648" y="1243584"/>
            <a:ext cx="246888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F6F8B"/>
                </a:solidFill>
                <a:latin typeface="Aptos"/>
              </a:rPr>
              <a:t>Dataset independent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243584"/>
            <a:ext cx="717804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9202A"/>
                </a:solidFill>
                <a:latin typeface="Aptos"/>
              </a:rPr>
              <a:t>Any HTTP time-series API can be described by config.json.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039112"/>
            <a:ext cx="566928" cy="566928"/>
          </a:xfrm>
          <a:prstGeom prst="roundRect">
            <a:avLst/>
          </a:prstGeom>
          <a:solidFill>
            <a:srgbClr val="C62828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39696"/>
            <a:ext cx="566928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08760" y="2039112"/>
            <a:ext cx="9966960" cy="566928"/>
          </a:xfrm>
          <a:prstGeom prst="roundRect">
            <a:avLst/>
          </a:prstGeom>
          <a:solidFill>
            <a:srgbClr val="FCE7E8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55648" y="2139696"/>
            <a:ext cx="246888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700" b="1">
                <a:solidFill>
                  <a:srgbClr val="C62828"/>
                </a:solidFill>
                <a:latin typeface="Aptos"/>
              </a:rPr>
              <a:t>Source isolated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2139696"/>
            <a:ext cx="717804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9202A"/>
                </a:solidFill>
                <a:latin typeface="Aptos"/>
              </a:rPr>
              <a:t>Datasource and project cache are separate owners.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35224"/>
            <a:ext cx="566928" cy="566928"/>
          </a:xfrm>
          <a:prstGeom prst="roundRect">
            <a:avLst/>
          </a:prstGeom>
          <a:solidFill>
            <a:srgbClr val="198754"/>
          </a:solidFill>
          <a:ln w="1270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035808"/>
            <a:ext cx="566928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08760" y="2935224"/>
            <a:ext cx="9966960" cy="566928"/>
          </a:xfrm>
          <a:prstGeom prst="roundRect">
            <a:avLst/>
          </a:prstGeom>
          <a:solidFill>
            <a:srgbClr val="E1F4EB"/>
          </a:solidFill>
          <a:ln w="1270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55648" y="3035808"/>
            <a:ext cx="246888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98754"/>
                </a:solidFill>
                <a:latin typeface="Aptos"/>
              </a:rPr>
              <a:t>No false gaps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3035808"/>
            <a:ext cx="717804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9202A"/>
                </a:solidFill>
                <a:latin typeface="Aptos"/>
              </a:rPr>
              <a:t>Missing data remains missing and visible.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31335"/>
            <a:ext cx="566928" cy="566928"/>
          </a:xfrm>
          <a:prstGeom prst="roundRect">
            <a:avLst/>
          </a:prstGeom>
          <a:solidFill>
            <a:srgbClr val="D96B00"/>
          </a:solidFill>
          <a:ln w="12700">
            <a:solidFill>
              <a:srgbClr val="D9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931920"/>
            <a:ext cx="566928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08760" y="3831335"/>
            <a:ext cx="9966960" cy="566928"/>
          </a:xfrm>
          <a:prstGeom prst="roundRect">
            <a:avLst/>
          </a:prstGeom>
          <a:solidFill>
            <a:srgbClr val="FFEFDC"/>
          </a:solidFill>
          <a:ln w="12700">
            <a:solidFill>
              <a:srgbClr val="D9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55648" y="3931920"/>
            <a:ext cx="246888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700" b="1">
                <a:solidFill>
                  <a:srgbClr val="D96B00"/>
                </a:solidFill>
                <a:latin typeface="Aptos"/>
              </a:rPr>
              <a:t>No silent truncation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3931920"/>
            <a:ext cx="717804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9202A"/>
                </a:solidFill>
                <a:latin typeface="Aptos"/>
              </a:rPr>
              <a:t>Dense ranges use full SQL bucket aggregation.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727448"/>
            <a:ext cx="566928" cy="566928"/>
          </a:xfrm>
          <a:prstGeom prst="roundRect">
            <a:avLst/>
          </a:prstGeom>
          <a:solidFill>
            <a:srgbClr val="6F42C1"/>
          </a:solidFill>
          <a:ln w="127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828032"/>
            <a:ext cx="566928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08760" y="4727448"/>
            <a:ext cx="9966960" cy="566928"/>
          </a:xfrm>
          <a:prstGeom prst="roundRect">
            <a:avLst/>
          </a:prstGeom>
          <a:solidFill>
            <a:srgbClr val="EFE8FA"/>
          </a:solidFill>
          <a:ln w="127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55648" y="4828032"/>
            <a:ext cx="246888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700" b="1">
                <a:solidFill>
                  <a:srgbClr val="6F42C1"/>
                </a:solidFill>
                <a:latin typeface="Aptos"/>
              </a:rPr>
              <a:t>Evidence returned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4828032"/>
            <a:ext cx="717804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9202A"/>
                </a:solidFill>
                <a:latin typeface="Aptos"/>
              </a:rPr>
              <a:t>Quality, counts, resolution, fidelity, and metrics travel with the series.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989320"/>
            <a:ext cx="11201400" cy="384048"/>
          </a:xfrm>
          <a:prstGeom prst="roundRect">
            <a:avLst/>
          </a:prstGeom>
          <a:solidFill>
            <a:srgbClr val="FFEFDC"/>
          </a:solidFill>
          <a:ln w="12700">
            <a:solidFill>
              <a:srgbClr val="D9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6053328"/>
            <a:ext cx="1088136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8A4B08"/>
                </a:solidFill>
                <a:latin typeface="Aptos"/>
              </a:rPr>
              <a:t>SPEAKER CUE  |  The project is not only fast; it is designed to make the result explainable and honest.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547104"/>
            <a:ext cx="11201400" cy="10972"/>
          </a:xfrm>
          <a:prstGeom prst="rect">
            <a:avLst/>
          </a:prstGeom>
          <a:solidFill>
            <a:srgbClr val="DEE4EB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6601968"/>
            <a:ext cx="7772400" cy="164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86574"/>
                </a:solidFill>
                <a:latin typeface="Aptos"/>
              </a:rPr>
              <a:t>ANAVIZ  |  Dataset-independent time-series visualization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601968"/>
            <a:ext cx="502920" cy="164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800" b="0">
                <a:solidFill>
                  <a:srgbClr val="586574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65C"/>
          </a:solidFill>
          <a:ln w="12700">
            <a:solidFill>
              <a:srgbClr val="14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685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874519"/>
            <a:ext cx="987552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2100" b="0">
                <a:solidFill>
                  <a:srgbClr val="D2E5F7"/>
                </a:solidFill>
                <a:latin typeface="Aptos"/>
              </a:rPr>
              <a:t>Anaviz turns arbitrary HTTP time-series data into an evidence-aware visualization.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926080"/>
            <a:ext cx="8503920" cy="1417320"/>
          </a:xfrm>
          <a:prstGeom prst="roundRect">
            <a:avLst/>
          </a:prstGeom>
          <a:solidFill>
            <a:srgbClr val="224D77"/>
          </a:solidFill>
          <a:ln w="12700">
            <a:solidFill>
              <a:srgbClr val="4C8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57400" y="3246120"/>
            <a:ext cx="804672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983480"/>
            <a:ext cx="960120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700" b="0">
                <a:solidFill>
                  <a:srgbClr val="D8E8F6"/>
                </a:solidFill>
                <a:latin typeface="Aptos"/>
              </a:rPr>
              <a:t>Key closing line: The HLT dataset demonstrates the system, but config.json makes the architecture reusable.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92240"/>
            <a:ext cx="105156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900" b="0">
                <a:solidFill>
                  <a:srgbClr val="AAC8E1"/>
                </a:solidFill>
                <a:latin typeface="Aptos"/>
              </a:rPr>
              <a:t>ANAVIZ  |  Presentation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